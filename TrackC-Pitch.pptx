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capability, not the machine. Do NOT mention the Opentrons — that's the 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judge slide — Track C explicitly rewards physical verification &amp; recovery. Land the tagline.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real thing. If hardware misbehaves, cut to the backup video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one of the reveal. Don't rush — let the surprise land before clicking to the signature.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Chiu is in the room, acknowledge him live — that lands harder than any slide. Confirm he's OK being named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tender-exciting-mccarthy/mnt/outputs/deck/assets/hero_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0"/>
            <a:ext cx="56052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0" y="0"/>
            <a:ext cx="1463040" cy="6858000"/>
          </a:xfrm>
          <a:prstGeom prst="rect">
            <a:avLst/>
          </a:prstGeom>
          <a:solidFill>
            <a:srgbClr val="0B1220">
              <a:alpha val="6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ZEON HACKATHON · TRACK C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94360" y="1234440"/>
            <a:ext cx="5577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Robots with hands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know when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they've failed.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4160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dexterity + AI physical verification, live on real lab hardware.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806440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14203A"/>
          </a:solidFill>
          <a:ln w="12700">
            <a:solidFill>
              <a:srgbClr val="2436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8064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Dale Herzog   ·   Di Hu   ·   Lukas Bromig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automation has two gaps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578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0B122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331720"/>
            <a:ext cx="777240" cy="777240"/>
          </a:xfrm>
          <a:prstGeom prst="ellipse">
            <a:avLst/>
          </a:prstGeom>
          <a:solidFill>
            <a:srgbClr val="2E6BFF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331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103120" y="239572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Brittle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3383280"/>
            <a:ext cx="4434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3B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 do a task once, cleanly — then freeze the moment reality drifts. No sense of whether the action actually worked.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1920240"/>
            <a:ext cx="52578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0B122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75120" y="2331720"/>
            <a:ext cx="777240" cy="7772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31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726680" y="239572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Human-only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720840" y="3383280"/>
            <a:ext cx="4434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3B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Instruments and labware are built for human hands: caps to twist, tubes to hold, liquids to pour. Robots can't just use them.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5532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2E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close both — dexterity, and knowing whether it succeeded.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sample-prep step — verified at every move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3B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robot arms uncap a tube and hold it while a liquid handler aspirates — while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2E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watch through cameras and confirm each step actually worked.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3063240"/>
            <a:ext cx="32004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0B122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3383280"/>
            <a:ext cx="640080" cy="640080"/>
          </a:xfrm>
          <a:prstGeom prst="ellipse">
            <a:avLst/>
          </a:prstGeom>
          <a:solidFill>
            <a:srgbClr val="14203A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920240" y="34015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Uncap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920240" y="3840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arms cooperate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143000" y="4160520"/>
            <a:ext cx="2560320" cy="365760"/>
          </a:xfrm>
          <a:prstGeom prst="roundRect">
            <a:avLst>
              <a:gd name="adj" fmla="val 50000"/>
            </a:avLst>
          </a:prstGeom>
          <a:solidFill>
            <a:srgbClr val="E7F7EE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160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8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verified by 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23360" y="338328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617720" y="3063240"/>
            <a:ext cx="32004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0B122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937760" y="3383280"/>
            <a:ext cx="640080" cy="640080"/>
          </a:xfrm>
          <a:prstGeom prst="ellipse">
            <a:avLst/>
          </a:prstGeom>
          <a:solidFill>
            <a:srgbClr val="14203A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715000" y="34015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5715000" y="3840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arm lifts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937760" y="4160520"/>
            <a:ext cx="2560320" cy="365760"/>
          </a:xfrm>
          <a:prstGeom prst="roundRect">
            <a:avLst>
              <a:gd name="adj" fmla="val 50000"/>
            </a:avLst>
          </a:prstGeom>
          <a:solidFill>
            <a:srgbClr val="E7F7EE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4160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8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verified by AI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818120" y="338328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8412480" y="3063240"/>
            <a:ext cx="32004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0B122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732520" y="3383280"/>
            <a:ext cx="640080" cy="640080"/>
          </a:xfrm>
          <a:prstGeom prst="ellipse">
            <a:avLst/>
          </a:prstGeom>
          <a:solidFill>
            <a:srgbClr val="14203A"/>
          </a:solidFill>
          <a:ln/>
        </p:spPr>
      </p:sp>
      <p:sp>
        <p:nvSpPr>
          <p:cNvPr id="23" name="Text 21"/>
          <p:cNvSpPr/>
          <p:nvPr/>
        </p:nvSpPr>
        <p:spPr>
          <a:xfrm>
            <a:off x="873252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509760" y="34015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Aspirate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509760" y="3840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+ liquid handler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732520" y="4160520"/>
            <a:ext cx="2560320" cy="365760"/>
          </a:xfrm>
          <a:prstGeom prst="roundRect">
            <a:avLst>
              <a:gd name="adj" fmla="val 50000"/>
            </a:avLst>
          </a:prstGeom>
          <a:solidFill>
            <a:srgbClr val="E7F7EE"/>
          </a:solidFill>
          <a:ln/>
        </p:spPr>
      </p:sp>
      <p:sp>
        <p:nvSpPr>
          <p:cNvPr id="27" name="Text 25"/>
          <p:cNvSpPr/>
          <p:nvPr/>
        </p:nvSpPr>
        <p:spPr>
          <a:xfrm>
            <a:off x="8732520" y="4160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8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verified by AI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" y="5074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B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→ retry loop wraps the whole chain, so a failed step is caught and corrected — not fatal.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DEXTERITY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arms, one cap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84048" cy="384048"/>
          </a:xfrm>
          <a:prstGeom prst="ellipse">
            <a:avLst/>
          </a:prstGeom>
          <a:solidFill>
            <a:srgbClr val="2E6BF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783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holds, one turns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212848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B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1 grips the tube body against rotation; Arm 2 grips the cap and ratchet-turns it off — open, reset wrist, re-grip, turn again.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3200400"/>
            <a:ext cx="384048" cy="384048"/>
          </a:xfrm>
          <a:prstGeom prst="ellipse">
            <a:avLst/>
          </a:prstGeom>
          <a:solidFill>
            <a:srgbClr val="2E6BF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world frame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538728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B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arms calibrated into one coordinate frame via an AprilTag fixture, so they can cooperate to the millimetre.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4526280"/>
            <a:ext cx="384048" cy="384048"/>
          </a:xfrm>
          <a:prstGeom prst="ellipse">
            <a:avLst/>
          </a:prstGeom>
          <a:solidFill>
            <a:srgbClr val="2E6BF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44348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end-effectors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4864608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B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3D-printed cap-gripping jaws bite the knurling for a slip-free turn.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20840" y="1737360"/>
            <a:ext cx="4846320" cy="4114800"/>
          </a:xfrm>
          <a:prstGeom prst="roundRect">
            <a:avLst>
              <a:gd name="adj" fmla="val 2222"/>
            </a:avLst>
          </a:prstGeom>
          <a:solidFill>
            <a:srgbClr val="E9EFF6"/>
          </a:solidFill>
          <a:ln w="19050">
            <a:solidFill>
              <a:srgbClr val="2E6BFF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720840" y="33375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PHOTO 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2084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mid-unscrew close-up (both grippers on the tube)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EYES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 on every step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4846320" cy="4114800"/>
          </a:xfrm>
          <a:prstGeom prst="roundRect">
            <a:avLst>
              <a:gd name="adj" fmla="val 2222"/>
            </a:avLst>
          </a:prstGeom>
          <a:solidFill>
            <a:srgbClr val="E9EFF6"/>
          </a:solidFill>
          <a:ln w="19050">
            <a:solidFill>
              <a:srgbClr val="2E6BFF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40080" y="33375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PHOTO 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annotated camera view (cap / grasp / tube / liquid)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1874520"/>
            <a:ext cx="384048" cy="384048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46520" y="17830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On-arm camera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46520" y="2212848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B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Close-up view of the cap, grasp and tube opening — the fine detail verification needs.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852160" y="3200400"/>
            <a:ext cx="384048" cy="384048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5852160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31089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camera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3538728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B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Whole-scene view: where things are, and where they end up if something slips.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52160" y="4526280"/>
            <a:ext cx="384048" cy="384048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6" name="Text 14"/>
          <p:cNvSpPr/>
          <p:nvPr/>
        </p:nvSpPr>
        <p:spPr>
          <a:xfrm>
            <a:off x="585216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44348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 the agents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4864608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B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is what the AI verification agents reason over to decide pass / retry.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BRAIN  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 that verify — and retry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action, an agent asks the cameras “did this actually work?” → continue, or retry the step.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606040" cy="1965960"/>
          </a:xfrm>
          <a:prstGeom prst="roundRect">
            <a:avLst>
              <a:gd name="adj" fmla="val 5581"/>
            </a:avLst>
          </a:prstGeom>
          <a:solidFill>
            <a:srgbClr val="14203A"/>
          </a:solidFill>
          <a:ln w="12700">
            <a:solidFill>
              <a:srgbClr val="2436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6974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 off?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7673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drop + threads visible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56432" y="2423160"/>
            <a:ext cx="2606040" cy="1965960"/>
          </a:xfrm>
          <a:prstGeom prst="roundRect">
            <a:avLst>
              <a:gd name="adj" fmla="val 5581"/>
            </a:avLst>
          </a:prstGeom>
          <a:solidFill>
            <a:srgbClr val="14203A"/>
          </a:solidFill>
          <a:ln w="12700">
            <a:solidFill>
              <a:srgbClr val="2436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76472" y="26974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2" name="Text 10"/>
          <p:cNvSpPr/>
          <p:nvPr/>
        </p:nvSpPr>
        <p:spPr>
          <a:xfrm>
            <a:off x="3776472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30752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 secure?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30752" y="37673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gripper width + vision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423160"/>
            <a:ext cx="2606040" cy="1965960"/>
          </a:xfrm>
          <a:prstGeom prst="roundRect">
            <a:avLst>
              <a:gd name="adj" fmla="val 5581"/>
            </a:avLst>
          </a:prstGeom>
          <a:solidFill>
            <a:srgbClr val="14203A"/>
          </a:solidFill>
          <a:ln w="12700">
            <a:solidFill>
              <a:srgbClr val="2436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92824" y="26974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592824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547104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Tube aligned?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47104" y="37673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 check before OT moves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89136" y="2423160"/>
            <a:ext cx="2606040" cy="1965960"/>
          </a:xfrm>
          <a:prstGeom prst="roundRect">
            <a:avLst>
              <a:gd name="adj" fmla="val 5581"/>
            </a:avLst>
          </a:prstGeom>
          <a:solidFill>
            <a:srgbClr val="14203A"/>
          </a:solidFill>
          <a:ln w="12700">
            <a:solidFill>
              <a:srgbClr val="2436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09176" y="26974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2" name="Text 20"/>
          <p:cNvSpPr/>
          <p:nvPr/>
        </p:nvSpPr>
        <p:spPr>
          <a:xfrm>
            <a:off x="94091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63456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 aspirated?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363456" y="37673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drop / volume report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709160"/>
            <a:ext cx="4846320" cy="1600200"/>
          </a:xfrm>
          <a:prstGeom prst="roundRect">
            <a:avLst>
              <a:gd name="adj" fmla="val 5714"/>
            </a:avLst>
          </a:prstGeom>
          <a:solidFill>
            <a:srgbClr val="E9EFF6"/>
          </a:solidFill>
          <a:ln w="19050">
            <a:solidFill>
              <a:srgbClr val="2E6BFF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40080" y="50520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PHOTO ]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54635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caught-failure → recovery clip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5852160" cy="1600200"/>
          </a:xfrm>
          <a:prstGeom prst="roundRect">
            <a:avLst>
              <a:gd name="adj" fmla="val 6857"/>
            </a:avLst>
          </a:prstGeom>
          <a:solidFill>
            <a:srgbClr val="12244A"/>
          </a:solidFill>
          <a:ln w="15875">
            <a:solidFill>
              <a:srgbClr val="2E6B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4709160"/>
            <a:ext cx="5394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“Failure isn't a bug in our demo —</a:t>
            </a:r>
            <a:endParaRPr lang="en-US" sz="2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the feature.”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55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machines, one motion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84048" cy="384048"/>
          </a:xfrm>
          <a:prstGeom prst="ellipse">
            <a:avLst/>
          </a:prstGeom>
          <a:solidFill>
            <a:srgbClr val="2E6BF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783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 presents the tube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212848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B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arm holds the open tube at a known pose, calibrated into the liquid handler's frame.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3200400"/>
            <a:ext cx="384048" cy="384048"/>
          </a:xfrm>
          <a:prstGeom prst="ellipse">
            <a:avLst/>
          </a:prstGeom>
          <a:solidFill>
            <a:srgbClr val="2E6BFF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aspirates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538728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B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pipette descends and draws liquid while the arm holds dead-steady — a true hand-off between two robots.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4526280"/>
            <a:ext cx="384048" cy="384048"/>
          </a:xfrm>
          <a:prstGeom prst="ellipse">
            <a:avLst/>
          </a:prstGeom>
          <a:solidFill>
            <a:srgbClr val="2E6BF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44348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end-to-end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4864608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B4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confirms liquid was actually taken up before we call it done.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20840" y="1737360"/>
            <a:ext cx="4846320" cy="4114800"/>
          </a:xfrm>
          <a:prstGeom prst="roundRect">
            <a:avLst>
              <a:gd name="adj" fmla="val 2222"/>
            </a:avLst>
          </a:prstGeom>
          <a:solidFill>
            <a:srgbClr val="E9EFF6"/>
          </a:solidFill>
          <a:ln w="19050">
            <a:solidFill>
              <a:srgbClr val="2E6BFF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720840" y="33375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PHOTO 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2084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arm holding open tube under the pipette, aspirating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ellipse">
            <a:avLst/>
          </a:prstGeom>
          <a:solidFill>
            <a:srgbClr val="14203A"/>
          </a:solidFill>
          <a:ln w="25400">
            <a:solidFill>
              <a:srgbClr val="2E6B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75504" y="187452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0" y="38862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84632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video ready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tender-exciting-mccarthy/mnt/outputs/deck/assets/ot_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0"/>
            <a:ext cx="46908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66560" y="0"/>
            <a:ext cx="1097280" cy="6858000"/>
          </a:xfrm>
          <a:prstGeom prst="rect">
            <a:avLst/>
          </a:prstGeom>
          <a:solidFill>
            <a:srgbClr val="0B1220">
              <a:alpha val="6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1371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REVEAL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18288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AE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liquid handler doing all this?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40080" y="306324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first-ever</a:t>
            </a:r>
            <a:endParaRPr lang="en-US" sz="4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Opentrons.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640080" y="489204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decade-old open-source machine — given modern dexterity and AI verification.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tender-exciting-mccarthy/mnt/outputs/deck/assets/sig_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94944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949440" y="0"/>
            <a:ext cx="5239512" cy="68580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4" name="Text 1"/>
          <p:cNvSpPr/>
          <p:nvPr/>
        </p:nvSpPr>
        <p:spPr>
          <a:xfrm>
            <a:off x="726948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ONE MORE THING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269480" y="192024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by its creator.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269480" y="320040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Chau
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CTO of Opentrons,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CEO of OpenShelf — here at the hackathon.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tender-exciting-mccarthy/mnt/outputs/deck/assets/team_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8521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852160" y="0"/>
            <a:ext cx="6336792" cy="6858000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4" name="Text 1"/>
          <p:cNvSpPr/>
          <p:nvPr/>
        </p:nvSpPr>
        <p:spPr>
          <a:xfrm>
            <a:off x="6309360" y="594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 24H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309360" y="9144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309360" y="1691640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14203A"/>
          </a:solidFill>
          <a:ln w="12700">
            <a:solidFill>
              <a:srgbClr val="2436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0" y="18105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Dale Herzog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583680" y="21488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Manipulation &amp; end-effectors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583680" y="2423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modeler · coffee nerd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309360" y="2926080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14203A"/>
          </a:solidFill>
          <a:ln w="12700">
            <a:solidFill>
              <a:srgbClr val="2436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30449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Hu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583680" y="33832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 &amp; AI verification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583680" y="3657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scientist gone full AI×automation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309360" y="4160520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14203A"/>
          </a:solidFill>
          <a:ln w="12700">
            <a:solidFill>
              <a:srgbClr val="2436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83680" y="42793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Lukas Bromig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&amp; orchestration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583680" y="48920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co-founder, UniteLabs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309360" y="5806440"/>
            <a:ext cx="5440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29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verify-loop generalizes to any step or instrument.   ·   github.com/Lbromig/hackathon-zeon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2026-07-25T20:11:27Z</dcterms:created>
  <dcterms:modified xsi:type="dcterms:W3CDTF">2026-07-25T20:11:27Z</dcterms:modified>
</cp:coreProperties>
</file>